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0" r:id="rId1"/>
  </p:sldMasterIdLst>
  <p:sldIdLst>
    <p:sldId id="261" r:id="rId2"/>
    <p:sldId id="257" r:id="rId3"/>
    <p:sldId id="262" r:id="rId4"/>
    <p:sldId id="258" r:id="rId5"/>
    <p:sldId id="263" r:id="rId6"/>
    <p:sldId id="259" r:id="rId7"/>
    <p:sldId id="26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1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936" y="3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6843" y="3887812"/>
            <a:ext cx="12195668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2440" y="2194560"/>
            <a:ext cx="11247120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900" y="3915938"/>
            <a:ext cx="11506200" cy="457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556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763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-6843" y="3887812"/>
            <a:ext cx="12195668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5488" y="2194560"/>
            <a:ext cx="11247120" cy="173736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472" y="3911827"/>
            <a:ext cx="11503152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733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699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65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618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244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237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20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600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63A1C593-65D0-4073-BCC9-577B9352EA97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466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590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D01B5-30C6-D3A7-A27B-39A4E9A99486}"/>
              </a:ext>
            </a:extLst>
          </p:cNvPr>
          <p:cNvSpPr txBox="1">
            <a:spLocks/>
          </p:cNvSpPr>
          <p:nvPr/>
        </p:nvSpPr>
        <p:spPr>
          <a:xfrm>
            <a:off x="342900" y="405608"/>
            <a:ext cx="5753100" cy="106225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kern="1200" cap="all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>
                <a:solidFill>
                  <a:schemeClr val="accent1"/>
                </a:solidFill>
              </a:rPr>
              <a:t>Login Via QR Code</a:t>
            </a:r>
          </a:p>
        </p:txBody>
      </p:sp>
      <p:pic>
        <p:nvPicPr>
          <p:cNvPr id="3" name="Content Placeholder 3">
            <a:extLst>
              <a:ext uri="{FF2B5EF4-FFF2-40B4-BE49-F238E27FC236}">
                <a16:creationId xmlns:a16="http://schemas.microsoft.com/office/drawing/2014/main" id="{C66E001E-8D22-8BDD-7457-483EF758F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805" y="1143000"/>
            <a:ext cx="1102756" cy="2468862"/>
          </a:xfrm>
          <a:prstGeom prst="rect">
            <a:avLst/>
          </a:prstGeom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2D1D30-B4DB-C175-B808-306A1EC2AC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2031" y="1143000"/>
            <a:ext cx="3721190" cy="21617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616E6B7-37D9-C91F-A932-E6F86B095C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805" y="4114800"/>
            <a:ext cx="3721190" cy="22380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D6A2C3-CFBD-44B1-86BB-AF5540A706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2030" y="3771678"/>
            <a:ext cx="3721190" cy="26173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B7A8ACB-21F6-42C7-C39C-7D7A0189B175}"/>
              </a:ext>
            </a:extLst>
          </p:cNvPr>
          <p:cNvSpPr txBox="1"/>
          <p:nvPr/>
        </p:nvSpPr>
        <p:spPr>
          <a:xfrm>
            <a:off x="533177" y="1381125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1-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214626-F78A-069D-5E3D-4ABC714E67C3}"/>
              </a:ext>
            </a:extLst>
          </p:cNvPr>
          <p:cNvSpPr txBox="1"/>
          <p:nvPr/>
        </p:nvSpPr>
        <p:spPr>
          <a:xfrm>
            <a:off x="6677025" y="1143000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2-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266818-0564-F0E0-7352-75B6AE0699DB}"/>
              </a:ext>
            </a:extLst>
          </p:cNvPr>
          <p:cNvSpPr txBox="1"/>
          <p:nvPr/>
        </p:nvSpPr>
        <p:spPr>
          <a:xfrm>
            <a:off x="342900" y="4391025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3-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14A8D6-DC92-D7FC-4958-2692BBB793BC}"/>
              </a:ext>
            </a:extLst>
          </p:cNvPr>
          <p:cNvSpPr txBox="1"/>
          <p:nvPr/>
        </p:nvSpPr>
        <p:spPr>
          <a:xfrm>
            <a:off x="6861756" y="4114800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4-</a:t>
            </a:r>
          </a:p>
        </p:txBody>
      </p:sp>
    </p:spTree>
    <p:extLst>
      <p:ext uri="{BB962C8B-B14F-4D97-AF65-F5344CB8AC3E}">
        <p14:creationId xmlns:p14="http://schemas.microsoft.com/office/powerpoint/2010/main" val="3864203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D748BE-6B7C-B4B7-5F54-E6D7A8EFB1E0}"/>
              </a:ext>
            </a:extLst>
          </p:cNvPr>
          <p:cNvSpPr txBox="1"/>
          <p:nvPr/>
        </p:nvSpPr>
        <p:spPr>
          <a:xfrm>
            <a:off x="361207" y="247650"/>
            <a:ext cx="5019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Generate attendance report&amp; end of term report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6A40A57-ECDD-087D-4E8F-676A63D17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517" y="752476"/>
            <a:ext cx="3646050" cy="2495550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6E76ED6-0C1C-43A3-2B83-A45F27D9C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5649" y="752477"/>
            <a:ext cx="4152901" cy="2495550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0A42D11-A37E-AB07-1561-5093036E02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517" y="3818767"/>
            <a:ext cx="3646050" cy="2791583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6D4BF4C-5B90-6C5C-CA6E-ECB622F1C0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5648" y="4064635"/>
            <a:ext cx="4152901" cy="228889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54AA954-D699-F01E-88CE-2CAF1EFB46A1}"/>
              </a:ext>
            </a:extLst>
          </p:cNvPr>
          <p:cNvSpPr txBox="1"/>
          <p:nvPr/>
        </p:nvSpPr>
        <p:spPr>
          <a:xfrm>
            <a:off x="361207" y="818391"/>
            <a:ext cx="572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1-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0B310F-6003-CD0E-58C0-03FEDF45A2AA}"/>
              </a:ext>
            </a:extLst>
          </p:cNvPr>
          <p:cNvSpPr txBox="1"/>
          <p:nvPr/>
        </p:nvSpPr>
        <p:spPr>
          <a:xfrm>
            <a:off x="6657975" y="1187723"/>
            <a:ext cx="410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2-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F0E10B-F946-3D35-8D65-0A105DCA7754}"/>
              </a:ext>
            </a:extLst>
          </p:cNvPr>
          <p:cNvSpPr txBox="1"/>
          <p:nvPr/>
        </p:nvSpPr>
        <p:spPr>
          <a:xfrm>
            <a:off x="489299" y="3908845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3-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CA7251-2B20-097F-169E-927D42AD7163}"/>
              </a:ext>
            </a:extLst>
          </p:cNvPr>
          <p:cNvSpPr txBox="1"/>
          <p:nvPr/>
        </p:nvSpPr>
        <p:spPr>
          <a:xfrm>
            <a:off x="6733430" y="410448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4-</a:t>
            </a:r>
          </a:p>
        </p:txBody>
      </p:sp>
    </p:spTree>
    <p:extLst>
      <p:ext uri="{BB962C8B-B14F-4D97-AF65-F5344CB8AC3E}">
        <p14:creationId xmlns:p14="http://schemas.microsoft.com/office/powerpoint/2010/main" val="2797231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47215-A4CC-6F80-D217-F1795ECE6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Dialog for Generate attendance report&amp; end of term report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C4883-F5A6-033E-D543-1B794AE11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1">
              <a:lnSpc>
                <a:spcPct val="150000"/>
              </a:lnSpc>
            </a:pPr>
            <a:r>
              <a:rPr lang="en-US" b="1" dirty="0">
                <a:latin typeface="Aptos" panose="020B0004020202020204" pitchFamily="34" charset="0"/>
              </a:rPr>
              <a:t>User:</a:t>
            </a:r>
            <a:r>
              <a:rPr lang="en-US" dirty="0">
                <a:latin typeface="Aptos" panose="020B0004020202020204" pitchFamily="34" charset="0"/>
              </a:rPr>
              <a:t> Logs into the system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b="1" dirty="0" err="1">
                <a:solidFill>
                  <a:schemeClr val="accent1"/>
                </a:solidFill>
                <a:latin typeface="Aptos" panose="020B0004020202020204" pitchFamily="34" charset="0"/>
              </a:rPr>
              <a:t>System</a:t>
            </a:r>
            <a:r>
              <a:rPr lang="en-US" b="1" dirty="0">
                <a:latin typeface="Aptos" panose="020B0004020202020204" pitchFamily="34" charset="0"/>
              </a:rPr>
              <a:t>:</a:t>
            </a:r>
            <a:r>
              <a:rPr lang="en-US" dirty="0">
                <a:latin typeface="Aptos" panose="020B0004020202020204" pitchFamily="34" charset="0"/>
              </a:rPr>
              <a:t> Displays available courses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b="1" dirty="0">
                <a:latin typeface="Aptos" panose="020B0004020202020204" pitchFamily="34" charset="0"/>
              </a:rPr>
              <a:t>User:</a:t>
            </a:r>
            <a:r>
              <a:rPr lang="en-US" dirty="0">
                <a:latin typeface="Aptos" panose="020B0004020202020204" pitchFamily="34" charset="0"/>
              </a:rPr>
              <a:t> Selects a course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</a:rPr>
              <a:t>System</a:t>
            </a:r>
            <a:r>
              <a:rPr lang="en-US" b="1" dirty="0">
                <a:latin typeface="Aptos" panose="020B0004020202020204" pitchFamily="34" charset="0"/>
              </a:rPr>
              <a:t>:</a:t>
            </a:r>
            <a:r>
              <a:rPr lang="en-US" dirty="0">
                <a:latin typeface="Aptos" panose="020B0004020202020204" pitchFamily="34" charset="0"/>
              </a:rPr>
              <a:t> Shows attendance summary and student list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b="1" dirty="0">
                <a:latin typeface="Aptos" panose="020B0004020202020204" pitchFamily="34" charset="0"/>
              </a:rPr>
              <a:t>User:</a:t>
            </a:r>
            <a:r>
              <a:rPr lang="en-US" dirty="0">
                <a:latin typeface="Aptos" panose="020B0004020202020204" pitchFamily="34" charset="0"/>
              </a:rPr>
              <a:t> Reviews attendance data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b="1" dirty="0">
                <a:latin typeface="Aptos" panose="020B0004020202020204" pitchFamily="34" charset="0"/>
              </a:rPr>
              <a:t>User:</a:t>
            </a:r>
            <a:r>
              <a:rPr lang="en-US" dirty="0">
                <a:latin typeface="Aptos" panose="020B0004020202020204" pitchFamily="34" charset="0"/>
              </a:rPr>
              <a:t> Confirms attendance report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</a:rPr>
              <a:t>System</a:t>
            </a:r>
            <a:r>
              <a:rPr lang="en-US" b="1" dirty="0">
                <a:latin typeface="Aptos" panose="020B0004020202020204" pitchFamily="34" charset="0"/>
              </a:rPr>
              <a:t>:</a:t>
            </a:r>
            <a:r>
              <a:rPr lang="en-US" dirty="0">
                <a:latin typeface="Aptos" panose="020B0004020202020204" pitchFamily="34" charset="0"/>
              </a:rPr>
              <a:t> Displays submission success message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b="1" dirty="0">
                <a:latin typeface="Aptos" panose="020B0004020202020204" pitchFamily="34" charset="0"/>
              </a:rPr>
              <a:t>User:</a:t>
            </a:r>
            <a:r>
              <a:rPr lang="en-US" dirty="0">
                <a:latin typeface="Aptos" panose="020B0004020202020204" pitchFamily="34" charset="0"/>
              </a:rPr>
              <a:t> Continues to final report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</a:rPr>
              <a:t>System</a:t>
            </a:r>
            <a:r>
              <a:rPr lang="en-US" b="1" dirty="0">
                <a:latin typeface="Aptos" panose="020B0004020202020204" pitchFamily="34" charset="0"/>
              </a:rPr>
              <a:t>:</a:t>
            </a:r>
            <a:r>
              <a:rPr lang="en-US" dirty="0">
                <a:latin typeface="Aptos" panose="020B0004020202020204" pitchFamily="34" charset="0"/>
              </a:rPr>
              <a:t> Displays final attendance details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b="1" dirty="0">
                <a:latin typeface="Aptos" panose="020B0004020202020204" pitchFamily="34" charset="0"/>
              </a:rPr>
              <a:t>User:</a:t>
            </a:r>
            <a:r>
              <a:rPr lang="en-US" dirty="0">
                <a:latin typeface="Aptos" panose="020B0004020202020204" pitchFamily="34" charset="0"/>
              </a:rPr>
              <a:t> Downloads attendance / end-of-term report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</a:rPr>
              <a:t>System</a:t>
            </a:r>
            <a:r>
              <a:rPr lang="en-US" b="1" dirty="0">
                <a:latin typeface="Aptos" panose="020B0004020202020204" pitchFamily="34" charset="0"/>
              </a:rPr>
              <a:t>:</a:t>
            </a:r>
            <a:r>
              <a:rPr lang="en-US" dirty="0">
                <a:latin typeface="Aptos" panose="020B0004020202020204" pitchFamily="34" charset="0"/>
              </a:rPr>
              <a:t> Generates and downloads the report</a:t>
            </a:r>
          </a:p>
        </p:txBody>
      </p:sp>
    </p:spTree>
    <p:extLst>
      <p:ext uri="{BB962C8B-B14F-4D97-AF65-F5344CB8AC3E}">
        <p14:creationId xmlns:p14="http://schemas.microsoft.com/office/powerpoint/2010/main" val="1596012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">
            <a:extLst>
              <a:ext uri="{FF2B5EF4-FFF2-40B4-BE49-F238E27FC236}">
                <a16:creationId xmlns:a16="http://schemas.microsoft.com/office/drawing/2014/main" id="{F32725D7-FFD1-FBC2-4148-1449FFAF8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00" y="578882"/>
            <a:ext cx="4415200" cy="2402443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31494B0-1B6D-9BE4-ABA1-3223F6A71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00" y="3495675"/>
            <a:ext cx="4415199" cy="2781300"/>
          </a:xfrm>
          <a:prstGeom prst="rect">
            <a:avLst/>
          </a:prstGeom>
        </p:spPr>
      </p:pic>
      <p:pic>
        <p:nvPicPr>
          <p:cNvPr id="8" name="Picture 7" descr="A black arrow pointing at something&#10;&#10;AI-generated content may be incorrect.">
            <a:extLst>
              <a:ext uri="{FF2B5EF4-FFF2-40B4-BE49-F238E27FC236}">
                <a16:creationId xmlns:a16="http://schemas.microsoft.com/office/drawing/2014/main" id="{48AFDD57-071D-26BC-D35F-06FA398C38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4924" y="1609726"/>
            <a:ext cx="193521" cy="178300"/>
          </a:xfrm>
          <a:prstGeom prst="rect">
            <a:avLst/>
          </a:prstGeom>
        </p:spPr>
      </p:pic>
      <p:pic>
        <p:nvPicPr>
          <p:cNvPr id="10" name="Picture 9" descr="A close up of a message&#10;&#10;AI-generated content may be incorrect.">
            <a:extLst>
              <a:ext uri="{FF2B5EF4-FFF2-40B4-BE49-F238E27FC236}">
                <a16:creationId xmlns:a16="http://schemas.microsoft.com/office/drawing/2014/main" id="{86F433C8-4280-8C97-9CD9-390EEBEC94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1476" y="1214439"/>
            <a:ext cx="3745992" cy="790574"/>
          </a:xfrm>
          <a:prstGeom prst="rect">
            <a:avLst/>
          </a:prstGeom>
        </p:spPr>
      </p:pic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6866E88-AAEC-45FA-B2E1-9FB452862C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5683" y="3362325"/>
            <a:ext cx="4037837" cy="29146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B51A6DE-9004-F9A3-E97B-7C91766F5664}"/>
              </a:ext>
            </a:extLst>
          </p:cNvPr>
          <p:cNvSpPr txBox="1"/>
          <p:nvPr/>
        </p:nvSpPr>
        <p:spPr>
          <a:xfrm>
            <a:off x="279882" y="504825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1-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7AD79F-4965-49D4-CEFF-6A3ECE441F13}"/>
              </a:ext>
            </a:extLst>
          </p:cNvPr>
          <p:cNvSpPr txBox="1"/>
          <p:nvPr/>
        </p:nvSpPr>
        <p:spPr>
          <a:xfrm>
            <a:off x="6362700" y="1333500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2-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2C73B2-89B4-83A6-E83A-D415F0E539A9}"/>
              </a:ext>
            </a:extLst>
          </p:cNvPr>
          <p:cNvSpPr txBox="1"/>
          <p:nvPr/>
        </p:nvSpPr>
        <p:spPr>
          <a:xfrm>
            <a:off x="279882" y="3768843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3-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2B8EF3-B5A1-5CB9-0DA9-170C83438E5B}"/>
              </a:ext>
            </a:extLst>
          </p:cNvPr>
          <p:cNvSpPr txBox="1"/>
          <p:nvPr/>
        </p:nvSpPr>
        <p:spPr>
          <a:xfrm>
            <a:off x="6293465" y="3495675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4-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848071-104E-44BB-16EA-F75A567611C0}"/>
              </a:ext>
            </a:extLst>
          </p:cNvPr>
          <p:cNvSpPr txBox="1"/>
          <p:nvPr/>
        </p:nvSpPr>
        <p:spPr>
          <a:xfrm>
            <a:off x="819150" y="135493"/>
            <a:ext cx="2736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Generate  at risk students</a:t>
            </a:r>
          </a:p>
        </p:txBody>
      </p:sp>
    </p:spTree>
    <p:extLst>
      <p:ext uri="{BB962C8B-B14F-4D97-AF65-F5344CB8AC3E}">
        <p14:creationId xmlns:p14="http://schemas.microsoft.com/office/powerpoint/2010/main" val="2687992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9A29B-4150-57E8-3F77-887D86734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Generate  at risk students</a:t>
            </a:r>
            <a:br>
              <a:rPr lang="en-US" b="1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C838F-47B8-E7B7-1EE1-8A28F57641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User:</a:t>
            </a:r>
            <a:r>
              <a:rPr lang="en-US" dirty="0"/>
              <a:t> Opens attendance list</a:t>
            </a:r>
            <a:br>
              <a:rPr lang="en-US" dirty="0"/>
            </a:br>
            <a:r>
              <a:rPr lang="en-US" b="1" dirty="0">
                <a:solidFill>
                  <a:srgbClr val="FFC000"/>
                </a:solidFill>
              </a:rPr>
              <a:t>System</a:t>
            </a:r>
            <a:r>
              <a:rPr lang="en-US" b="1" dirty="0"/>
              <a:t>:</a:t>
            </a:r>
            <a:r>
              <a:rPr lang="en-US" dirty="0"/>
              <a:t> Displays attendance data</a:t>
            </a:r>
            <a:br>
              <a:rPr lang="en-US" dirty="0"/>
            </a:br>
            <a:r>
              <a:rPr lang="en-US" b="1" dirty="0"/>
              <a:t>User:</a:t>
            </a:r>
            <a:r>
              <a:rPr lang="en-US" dirty="0"/>
              <a:t> Sets attendance threshold (below 75% or 60%)</a:t>
            </a:r>
            <a:br>
              <a:rPr lang="en-US" dirty="0"/>
            </a:br>
            <a:r>
              <a:rPr lang="en-US" b="1" dirty="0"/>
              <a:t>User:</a:t>
            </a:r>
            <a:r>
              <a:rPr lang="en-US" dirty="0"/>
              <a:t> Clicks </a:t>
            </a:r>
            <a:r>
              <a:rPr lang="en-US" b="1" dirty="0"/>
              <a:t>Apply</a:t>
            </a:r>
            <a:br>
              <a:rPr lang="en-US" dirty="0"/>
            </a:br>
            <a:r>
              <a:rPr lang="en-US" b="1" dirty="0">
                <a:solidFill>
                  <a:srgbClr val="FFC000"/>
                </a:solidFill>
              </a:rPr>
              <a:t>System</a:t>
            </a:r>
            <a:r>
              <a:rPr lang="en-US" b="1" dirty="0"/>
              <a:t>:</a:t>
            </a:r>
            <a:r>
              <a:rPr lang="en-US" dirty="0"/>
              <a:t> Filters and displays at-risk students</a:t>
            </a:r>
            <a:br>
              <a:rPr lang="en-US" dirty="0"/>
            </a:br>
            <a:r>
              <a:rPr lang="en-US" b="1" dirty="0"/>
              <a:t>User:</a:t>
            </a:r>
            <a:r>
              <a:rPr lang="en-US" dirty="0"/>
              <a:t> Reviews filtered list</a:t>
            </a:r>
            <a:br>
              <a:rPr lang="en-US" dirty="0"/>
            </a:br>
            <a:r>
              <a:rPr lang="en-US" b="1" dirty="0"/>
              <a:t>User:</a:t>
            </a:r>
            <a:r>
              <a:rPr lang="en-US" dirty="0"/>
              <a:t> Clicks </a:t>
            </a:r>
            <a:r>
              <a:rPr lang="en-US" b="1" dirty="0"/>
              <a:t>Download Report</a:t>
            </a:r>
            <a:br>
              <a:rPr lang="en-US" dirty="0"/>
            </a:br>
            <a:r>
              <a:rPr lang="en-US" b="1" dirty="0">
                <a:solidFill>
                  <a:srgbClr val="FFC000"/>
                </a:solidFill>
              </a:rPr>
              <a:t>System</a:t>
            </a:r>
            <a:r>
              <a:rPr lang="en-US" b="1" dirty="0"/>
              <a:t>:</a:t>
            </a:r>
            <a:r>
              <a:rPr lang="en-US" dirty="0"/>
              <a:t> Shows report format options</a:t>
            </a:r>
            <a:br>
              <a:rPr lang="en-US" dirty="0"/>
            </a:br>
            <a:r>
              <a:rPr lang="en-US" b="1" dirty="0"/>
              <a:t>User:</a:t>
            </a:r>
            <a:r>
              <a:rPr lang="en-US" dirty="0"/>
              <a:t> Selects PDF and confirms</a:t>
            </a:r>
            <a:br>
              <a:rPr lang="en-US" dirty="0"/>
            </a:br>
            <a:r>
              <a:rPr lang="en-US" b="1" dirty="0">
                <a:solidFill>
                  <a:srgbClr val="FFC000"/>
                </a:solidFill>
              </a:rPr>
              <a:t>System</a:t>
            </a:r>
            <a:r>
              <a:rPr lang="en-US" b="1" dirty="0"/>
              <a:t>:</a:t>
            </a:r>
            <a:r>
              <a:rPr lang="en-US" dirty="0"/>
              <a:t> Generates and downloads the at-risk students report</a:t>
            </a:r>
          </a:p>
        </p:txBody>
      </p:sp>
    </p:spTree>
    <p:extLst>
      <p:ext uri="{BB962C8B-B14F-4D97-AF65-F5344CB8AC3E}">
        <p14:creationId xmlns:p14="http://schemas.microsoft.com/office/powerpoint/2010/main" val="473555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707911-4306-C0D8-C631-CFA65FE5CDB5}"/>
              </a:ext>
            </a:extLst>
          </p:cNvPr>
          <p:cNvSpPr txBox="1"/>
          <p:nvPr/>
        </p:nvSpPr>
        <p:spPr>
          <a:xfrm>
            <a:off x="323851" y="252215"/>
            <a:ext cx="3044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Push data to FMS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B04D2DA-D5FA-8BD2-5C62-4CF36D4E7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622" y="840803"/>
            <a:ext cx="3346804" cy="2379144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35A29D3-BA33-F601-B957-9B3750296E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622" y="4027792"/>
            <a:ext cx="3579780" cy="2588198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EEEB81C-CBB0-38FF-1671-26BE640A5D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1851" y="3819032"/>
            <a:ext cx="3579780" cy="2796958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2013B9F-8AAC-32B6-B7B1-2D29C1A4C3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1851" y="840801"/>
            <a:ext cx="3579780" cy="237914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3ECB9B2-FC07-0EEF-EDCD-E7645AC2F79B}"/>
              </a:ext>
            </a:extLst>
          </p:cNvPr>
          <p:cNvSpPr txBox="1"/>
          <p:nvPr/>
        </p:nvSpPr>
        <p:spPr>
          <a:xfrm>
            <a:off x="137742" y="840803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1-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96A005-ADFE-7A6A-DDC6-17272B94E8DE}"/>
              </a:ext>
            </a:extLst>
          </p:cNvPr>
          <p:cNvSpPr txBox="1"/>
          <p:nvPr/>
        </p:nvSpPr>
        <p:spPr>
          <a:xfrm>
            <a:off x="6696075" y="82435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2-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B6FB64-1405-AE93-7579-F8F0C86CF1E0}"/>
              </a:ext>
            </a:extLst>
          </p:cNvPr>
          <p:cNvSpPr txBox="1"/>
          <p:nvPr/>
        </p:nvSpPr>
        <p:spPr>
          <a:xfrm>
            <a:off x="137742" y="4276725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3-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98118E-C1EE-FEB3-117B-BEFF3A8B027A}"/>
              </a:ext>
            </a:extLst>
          </p:cNvPr>
          <p:cNvSpPr txBox="1"/>
          <p:nvPr/>
        </p:nvSpPr>
        <p:spPr>
          <a:xfrm>
            <a:off x="6724651" y="3819032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4-</a:t>
            </a:r>
          </a:p>
        </p:txBody>
      </p:sp>
    </p:spTree>
    <p:extLst>
      <p:ext uri="{BB962C8B-B14F-4D97-AF65-F5344CB8AC3E}">
        <p14:creationId xmlns:p14="http://schemas.microsoft.com/office/powerpoint/2010/main" val="624648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75EDE-0100-9E38-848A-2621E0B23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Push data to FMS</a:t>
            </a:r>
            <a:br>
              <a:rPr lang="en-US" b="1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FD068-016B-F59A-951D-E7F7E0692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200000"/>
              </a:lnSpc>
            </a:pPr>
            <a:r>
              <a:rPr lang="en-US" b="1" dirty="0"/>
              <a:t>User:</a:t>
            </a:r>
            <a:r>
              <a:rPr lang="en-US" dirty="0"/>
              <a:t> Opens </a:t>
            </a:r>
            <a:r>
              <a:rPr lang="en-US" b="1" dirty="0"/>
              <a:t>Push Student Data to FMS</a:t>
            </a:r>
            <a:br>
              <a:rPr lang="en-US" dirty="0"/>
            </a:br>
            <a:r>
              <a:rPr lang="en-US" b="1" dirty="0">
                <a:solidFill>
                  <a:srgbClr val="FFC000"/>
                </a:solidFill>
              </a:rPr>
              <a:t>System</a:t>
            </a:r>
            <a:r>
              <a:rPr lang="en-US" b="1" dirty="0"/>
              <a:t>:</a:t>
            </a:r>
            <a:r>
              <a:rPr lang="en-US" dirty="0"/>
              <a:t> Displays term, course, and data options</a:t>
            </a:r>
            <a:br>
              <a:rPr lang="en-US" dirty="0"/>
            </a:br>
            <a:r>
              <a:rPr lang="en-US" b="1" dirty="0"/>
              <a:t>User:</a:t>
            </a:r>
            <a:r>
              <a:rPr lang="en-US" dirty="0"/>
              <a:t> Selects course and required data fields</a:t>
            </a:r>
            <a:br>
              <a:rPr lang="en-US" dirty="0"/>
            </a:br>
            <a:r>
              <a:rPr lang="en-US" b="1" dirty="0"/>
              <a:t>User:</a:t>
            </a:r>
            <a:r>
              <a:rPr lang="en-US" dirty="0"/>
              <a:t> Applies export filters</a:t>
            </a:r>
            <a:br>
              <a:rPr lang="en-US" dirty="0"/>
            </a:br>
            <a:r>
              <a:rPr lang="en-US" b="1" dirty="0"/>
              <a:t>User:</a:t>
            </a:r>
            <a:r>
              <a:rPr lang="en-US" dirty="0"/>
              <a:t> Clicks </a:t>
            </a:r>
            <a:r>
              <a:rPr lang="en-US" b="1" dirty="0"/>
              <a:t>Initiate Data Push</a:t>
            </a:r>
            <a:br>
              <a:rPr lang="en-US" dirty="0"/>
            </a:br>
            <a:r>
              <a:rPr lang="en-US" b="1" dirty="0">
                <a:solidFill>
                  <a:srgbClr val="FFC000"/>
                </a:solidFill>
              </a:rPr>
              <a:t>System</a:t>
            </a:r>
            <a:r>
              <a:rPr lang="en-US" b="1" dirty="0"/>
              <a:t>:</a:t>
            </a:r>
            <a:r>
              <a:rPr lang="en-US" dirty="0"/>
              <a:t> Validates selected data</a:t>
            </a:r>
            <a:br>
              <a:rPr lang="en-US" dirty="0"/>
            </a:br>
            <a:r>
              <a:rPr lang="en-US" b="1" dirty="0">
                <a:solidFill>
                  <a:srgbClr val="FFC000"/>
                </a:solidFill>
              </a:rPr>
              <a:t>System</a:t>
            </a:r>
            <a:r>
              <a:rPr lang="en-US" b="1" dirty="0"/>
              <a:t>:</a:t>
            </a:r>
            <a:r>
              <a:rPr lang="en-US" dirty="0"/>
              <a:t> Prepares dataset</a:t>
            </a:r>
            <a:br>
              <a:rPr lang="en-US" dirty="0"/>
            </a:br>
            <a:r>
              <a:rPr lang="en-US" b="1" dirty="0">
                <a:solidFill>
                  <a:srgbClr val="FFC000"/>
                </a:solidFill>
              </a:rPr>
              <a:t>System</a:t>
            </a:r>
            <a:r>
              <a:rPr lang="en-US" b="1" dirty="0"/>
              <a:t>:</a:t>
            </a:r>
            <a:r>
              <a:rPr lang="en-US" dirty="0"/>
              <a:t> Pushes data to FMS</a:t>
            </a:r>
            <a:br>
              <a:rPr lang="en-US" dirty="0"/>
            </a:br>
            <a:r>
              <a:rPr lang="en-US" b="1" dirty="0">
                <a:solidFill>
                  <a:srgbClr val="FFC000"/>
                </a:solidFill>
              </a:rPr>
              <a:t>System</a:t>
            </a:r>
            <a:r>
              <a:rPr lang="en-US" b="1" dirty="0"/>
              <a:t>:</a:t>
            </a:r>
            <a:r>
              <a:rPr lang="en-US" dirty="0"/>
              <a:t> Displays success message</a:t>
            </a:r>
          </a:p>
        </p:txBody>
      </p:sp>
    </p:spTree>
    <p:extLst>
      <p:ext uri="{BB962C8B-B14F-4D97-AF65-F5344CB8AC3E}">
        <p14:creationId xmlns:p14="http://schemas.microsoft.com/office/powerpoint/2010/main" val="36281211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606060"/>
      </a:dk2>
      <a:lt2>
        <a:srgbClr val="EDEDED"/>
      </a:lt2>
      <a:accent1>
        <a:srgbClr val="FFC000"/>
      </a:accent1>
      <a:accent2>
        <a:srgbClr val="A5D028"/>
      </a:accent2>
      <a:accent3>
        <a:srgbClr val="0CC978"/>
      </a:accent3>
      <a:accent4>
        <a:srgbClr val="099BDD"/>
      </a:accent4>
      <a:accent5>
        <a:srgbClr val="47BFCD"/>
      </a:accent5>
      <a:accent6>
        <a:srgbClr val="DD7C15"/>
      </a:accent6>
      <a:hlink>
        <a:srgbClr val="FF9933"/>
      </a:hlink>
      <a:folHlink>
        <a:srgbClr val="B2B2B2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B1D2DA32-AC8B-4194-BF85-FF4A5B40EB5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72</TotalTime>
  <Words>271</Words>
  <Application>Microsoft Office PowerPoint</Application>
  <PresentationFormat>Widescreen</PresentationFormat>
  <Paragraphs>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Corbel</vt:lpstr>
      <vt:lpstr>Wingdings</vt:lpstr>
      <vt:lpstr>Banded</vt:lpstr>
      <vt:lpstr>PowerPoint Presentation</vt:lpstr>
      <vt:lpstr>PowerPoint Presentation</vt:lpstr>
      <vt:lpstr>Dialog for Generate attendance report&amp; end of term report </vt:lpstr>
      <vt:lpstr>PowerPoint Presentation</vt:lpstr>
      <vt:lpstr>Generate  at risk students </vt:lpstr>
      <vt:lpstr>PowerPoint Presentation</vt:lpstr>
      <vt:lpstr>Push data to FMS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ahmed Tamer</dc:creator>
  <cp:lastModifiedBy>Ahmed Tamer Salah Hassan Qeshta</cp:lastModifiedBy>
  <cp:revision>7</cp:revision>
  <dcterms:created xsi:type="dcterms:W3CDTF">2025-07-23T00:59:00Z</dcterms:created>
  <dcterms:modified xsi:type="dcterms:W3CDTF">2025-12-14T19:16:16Z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BFA6786CCCD142DEA20B208AFD668AB2_11</vt:lpwstr>
  </property>
  <property fmtid="{D5CDD505-2E9C-101B-9397-08002B2CF9AE}" pid="3" name="KSOProductBuildVer">
    <vt:lpwstr>1033-12.2.0.23155</vt:lpwstr>
  </property>
</Properties>
</file>